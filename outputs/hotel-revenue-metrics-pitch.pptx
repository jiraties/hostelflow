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7e6b58817e403d" /><Relationship Type="http://schemas.openxmlformats.org/officeDocument/2006/relationships/extended-properties" Target="/docProps/app.xml" Id="Rd477682c3d1f4807" /><Relationship Type="http://schemas.openxmlformats.org/officeDocument/2006/relationships/officeDocument" Target="/ppt/presentation.xml" Id="Rb0b2c60fa0154e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1cd3fbc45e4073"/>
  </p:sldMasterIdLst>
  <p:notesMasterIdLst>
    <p:notesMasterId xmlns:r="http://schemas.openxmlformats.org/officeDocument/2006/relationships" r:id="R6b27b18f283e423f"/>
  </p:notesMasterIdLst>
  <p:sldIdLst>
    <p:sldId xmlns:r="http://schemas.openxmlformats.org/officeDocument/2006/relationships" id="256" r:id="R7206d6155a654338"/>
    <p:sldId xmlns:r="http://schemas.openxmlformats.org/officeDocument/2006/relationships" id="257" r:id="R61695eefbef64f87"/>
    <p:sldId xmlns:r="http://schemas.openxmlformats.org/officeDocument/2006/relationships" id="258" r:id="R1c809f722f4b4af1"/>
    <p:sldId xmlns:r="http://schemas.openxmlformats.org/officeDocument/2006/relationships" id="259" r:id="R4a0bcff2f5e14bb1"/>
    <p:sldId xmlns:r="http://schemas.openxmlformats.org/officeDocument/2006/relationships" id="260" r:id="Ra0d0dc09df784288"/>
    <p:sldId xmlns:r="http://schemas.openxmlformats.org/officeDocument/2006/relationships" id="261" r:id="Re927906a52094830"/>
    <p:sldId xmlns:r="http://schemas.openxmlformats.org/officeDocument/2006/relationships" id="262" r:id="R542d798805cd48cc"/>
    <p:sldId xmlns:r="http://schemas.openxmlformats.org/officeDocument/2006/relationships" id="263" r:id="R543551ddf8454497"/>
    <p:sldId xmlns:r="http://schemas.openxmlformats.org/officeDocument/2006/relationships" id="264" r:id="Rd0945c7dbd00433e"/>
    <p:sldId xmlns:r="http://schemas.openxmlformats.org/officeDocument/2006/relationships" id="265" r:id="Rcb98177a007543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e38aa85351460a" /><Relationship Type="http://schemas.openxmlformats.org/officeDocument/2006/relationships/slideMaster" Target="/ppt/slideMasters/slideMaster1.xml" Id="R631cd3fbc45e4073" /><Relationship Type="http://schemas.openxmlformats.org/officeDocument/2006/relationships/notesMaster" Target="/ppt/notesMasters/notesMaster1.xml" Id="R6b27b18f283e423f" /><Relationship Type="http://schemas.openxmlformats.org/officeDocument/2006/relationships/presProps" Target="/ppt/presProps.xml" Id="R7c39a2cf5a614c17" /><Relationship Type="http://schemas.openxmlformats.org/officeDocument/2006/relationships/tableStyles" Target="/ppt/tableStyles.xml" Id="Re02f75456dd64991" /><Relationship Type="http://schemas.openxmlformats.org/officeDocument/2006/relationships/slide" Target="/ppt/slides/slide1.xml" Id="R7206d6155a654338" /><Relationship Type="http://schemas.openxmlformats.org/officeDocument/2006/relationships/slide" Target="/ppt/slides/slide2.xml" Id="R61695eefbef64f87" /><Relationship Type="http://schemas.openxmlformats.org/officeDocument/2006/relationships/slide" Target="/ppt/slides/slide3.xml" Id="R1c809f722f4b4af1" /><Relationship Type="http://schemas.openxmlformats.org/officeDocument/2006/relationships/slide" Target="/ppt/slides/slide4.xml" Id="R4a0bcff2f5e14bb1" /><Relationship Type="http://schemas.openxmlformats.org/officeDocument/2006/relationships/slide" Target="/ppt/slides/slide5.xml" Id="Ra0d0dc09df784288" /><Relationship Type="http://schemas.openxmlformats.org/officeDocument/2006/relationships/slide" Target="/ppt/slides/slide6.xml" Id="Re927906a52094830" /><Relationship Type="http://schemas.openxmlformats.org/officeDocument/2006/relationships/slide" Target="/ppt/slides/slide7.xml" Id="R542d798805cd48cc" /><Relationship Type="http://schemas.openxmlformats.org/officeDocument/2006/relationships/slide" Target="/ppt/slides/slide8.xml" Id="R543551ddf8454497" /><Relationship Type="http://schemas.openxmlformats.org/officeDocument/2006/relationships/slide" Target="/ppt/slides/slide9.xml" Id="Rd0945c7dbd00433e" /><Relationship Type="http://schemas.openxmlformats.org/officeDocument/2006/relationships/slide" Target="/ppt/slides/slide10.xml" Id="Rcb98177a007543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1e467232e646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5cda53f7fc47e8" /><Relationship Type="http://schemas.openxmlformats.org/officeDocument/2006/relationships/notesMaster" Target="/ppt/notesMasters/notesMaster1.xml" Id="Rdb2fe57eff9e44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ff3a872aa547b0" /><Relationship Type="http://schemas.openxmlformats.org/officeDocument/2006/relationships/notesMaster" Target="/ppt/notesMasters/notesMaster1.xml" Id="R6c092ee05cda44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045c3299db43f4" /><Relationship Type="http://schemas.openxmlformats.org/officeDocument/2006/relationships/notesMaster" Target="/ppt/notesMasters/notesMaster1.xml" Id="Rd67678b9491543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68174671bb4f53" /><Relationship Type="http://schemas.openxmlformats.org/officeDocument/2006/relationships/notesMaster" Target="/ppt/notesMasters/notesMaster1.xml" Id="R66227de5495f4c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27313c0173467b" /><Relationship Type="http://schemas.openxmlformats.org/officeDocument/2006/relationships/notesMaster" Target="/ppt/notesMasters/notesMaster1.xml" Id="R8ea5fce7141040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cdfbb2a1004223" /><Relationship Type="http://schemas.openxmlformats.org/officeDocument/2006/relationships/notesMaster" Target="/ppt/notesMasters/notesMaster1.xml" Id="Ra5702de47ff041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717477d97d49b1" /><Relationship Type="http://schemas.openxmlformats.org/officeDocument/2006/relationships/notesMaster" Target="/ppt/notesMasters/notesMaster1.xml" Id="Rfd9579a99c7c44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1eab1ef3bb4ae2" /><Relationship Type="http://schemas.openxmlformats.org/officeDocument/2006/relationships/notesMaster" Target="/ppt/notesMasters/notesMaster1.xml" Id="R348d27a1961448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84185706ba46cb" /><Relationship Type="http://schemas.openxmlformats.org/officeDocument/2006/relationships/notesMaster" Target="/ppt/notesMasters/notesMaster1.xml" Id="Rf14186fc87384d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973e55fba8440b" /><Relationship Type="http://schemas.openxmlformats.org/officeDocument/2006/relationships/notesMaster" Target="/ppt/notesMasters/notesMaster1.xml" Id="R8e3259304cbf41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7c61822344f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f90973b768421e" /><Relationship Type="http://schemas.openxmlformats.org/officeDocument/2006/relationships/slideLayout" Target="/ppt/slideLayouts/slideLayout1.xml" Id="Rcfaf695578ee47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af695578ee47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db3510d484257" /><Relationship Type="http://schemas.openxmlformats.org/officeDocument/2006/relationships/notesSlide" Target="/ppt/notesSlides/notesSlide1.xml" Id="R021360cbd73a43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4883ff8af4cf2" /><Relationship Type="http://schemas.openxmlformats.org/officeDocument/2006/relationships/notesSlide" Target="/ppt/notesSlides/notesSlide2.xml" Id="R36558602754240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b8310488a45ca" /><Relationship Type="http://schemas.openxmlformats.org/officeDocument/2006/relationships/notesSlide" Target="/ppt/notesSlides/notesSlide3.xml" Id="R7514d27070fa41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5ca0d27dd4668" /><Relationship Type="http://schemas.openxmlformats.org/officeDocument/2006/relationships/notesSlide" Target="/ppt/notesSlides/notesSlide4.xml" Id="R19dcc7c7331a4f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8d36682e74279" /><Relationship Type="http://schemas.openxmlformats.org/officeDocument/2006/relationships/notesSlide" Target="/ppt/notesSlides/notesSlide5.xml" Id="R545e70162ea14a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cf857327d4e7e" /><Relationship Type="http://schemas.openxmlformats.org/officeDocument/2006/relationships/notesSlide" Target="/ppt/notesSlides/notesSlide6.xml" Id="Rd1d457dcc1d84a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ec2f7adbc4c2d" /><Relationship Type="http://schemas.openxmlformats.org/officeDocument/2006/relationships/notesSlide" Target="/ppt/notesSlides/notesSlide7.xml" Id="Rfa71f10b8e914c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9d1745b4b4998" /><Relationship Type="http://schemas.openxmlformats.org/officeDocument/2006/relationships/notesSlide" Target="/ppt/notesSlides/notesSlide8.xml" Id="R5eb4009bf62449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a2a0dc785429e" /><Relationship Type="http://schemas.openxmlformats.org/officeDocument/2006/relationships/notesSlide" Target="/ppt/notesSlides/notesSlide9.xml" Id="R95153132545f46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bc84da7294a0f" /><Relationship Type="http://schemas.openxmlformats.org/officeDocument/2006/relationships/notesSlide" Target="/ppt/notesSlides/notesSlide10.xml" Id="R571d8feb18cb4e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C1DF9B-A53C-4D08-9167-3D50BBEA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Revenue metrics Dad can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6D489-F614-4474-8E23-6FB290D4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6368"/>
                </a:solidFill>
              </a:defRPr>
            </a:pPr>
            <a:r>
              <a:rPr sz="1950">
                <a:solidFill>
                  <a:srgbClr val="5F6368"/>
                </a:solidFill>
              </a:rPr>
              <a:t>A simple way to compare the current owner view with hotel industry standards, then choose the right dashboard metrics.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76BA7-BF8C-4EE0-A208-CD480B87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429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2C7B5-4F07-43D7-9F35-3A5A1AEB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3825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ESR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0AE05-375A-4A25-A285-407A27F5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Expected Stay Revenue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1CC36-38F8-4E96-B173-B5A62908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3E152-0EFD-422C-8D8F-3AB6BD95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Recommendation deck for the owner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EAA09-9711-41C9-9772-531F6EE2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10279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C8ADA9-7C34-48E0-B76B-CA3D9F64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WHY THIS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750DF-21AF-43E3-944C-04284879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dashboard should answer two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F55C2-F488-4901-95A9-B1EDF8D7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A18AE-A46A-41A3-BEE0-4A13D13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Owner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C4C41-32D5-4D18-877C-130B2A64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Hotel industry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57EBE-09B9-419A-B4F1-0C532236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B6EB4-9946-4D8C-959B-22022A55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98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2E0A8-DD6D-4E83-A371-0162F170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How much money should this month produce, and how much cash has actually arrived?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012BF-B602-419B-BB9E-4AB249D3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289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How well are rooms being priced, filled, and converted into revenue?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80DCF-F9B1-4D38-9288-4419D1F2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007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Both are valid. They should not be merged into one number.</a:t>
            </a:r>
          </a:p>
        </p:txBody>
      </p:sp>
    </p:spTree>
    <p:extLst>
      <p:ext uri="{BB962C8B-B14F-4D97-AF65-F5344CB8AC3E}">
        <p14:creationId xmlns:p14="http://schemas.microsoft.com/office/powerpoint/2010/main" val="1185415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1E8C60-C9DF-49D2-BF82-5DEDE6F1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7A330-391A-4140-8D63-9C96775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current view is practical, but industry metrics add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ABC15-6D2F-4B4C-8EE1-67DAA48A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9584C-F04D-4BA1-80C4-C3DFB9EC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Current owner 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25899-C916-4CE3-9282-91E89EA5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Industry standard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7FC61-9F89-498B-82A3-AF279AB1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Why keep both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59184-9784-4969-B56F-E794A31E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11201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7081E-67CB-4EC6-8300-858CB89C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Expected monthly stay revenue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4F036-5119-4231-8FEF-5EE6EF3E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Room Revenue / Total Revenue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B050B-ABAE-4D97-8AAC-0A263034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336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368"/>
                </a:solidFill>
              </a:defRPr>
            </a:pPr>
            <a:r>
              <a:rPr sz="1425">
                <a:solidFill>
                  <a:srgbClr val="5F6368"/>
                </a:solidFill>
              </a:rPr>
              <a:t>Shows business value, not only cash timing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FCEEA-737A-4A16-AADA-961E0604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11201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20477-6D90-4072-AC16-DFD60FBD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Money received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8268C-B9C9-4DD4-B73E-62A4D8E6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Payments / Collections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D9E37-FD5A-425A-B201-26FE6FB3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368"/>
                </a:solidFill>
              </a:defRPr>
            </a:pPr>
            <a:r>
              <a:rPr sz="1425">
                <a:solidFill>
                  <a:srgbClr val="5F6368"/>
                </a:solidFill>
              </a:rPr>
              <a:t>Useful for cash control and daily close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24F27-D74B-4F7A-91A4-9E93EE32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11201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13C09-B45B-4055-9EF5-867B6186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Unpaid bookings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8941E-2C55-43DD-9EFB-E3EB933B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95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A/R or outstanding balance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6476C-39E3-4306-ADA4-DABF9982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957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368"/>
                </a:solidFill>
              </a:defRPr>
            </a:pPr>
            <a:r>
              <a:rPr sz="1425">
                <a:solidFill>
                  <a:srgbClr val="5F6368"/>
                </a:solidFill>
              </a:rPr>
              <a:t>Explains why revenue and cash differ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8C639-1583-4AA6-A3BD-D7A583A6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11201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C378E-3839-43F7-A946-6729A5AF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Guest count / beds filled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D80D74-5D7E-4406-98D5-200B3EB8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76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Occupancy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162A80-687B-4668-84AC-BBE07B9D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368"/>
                </a:solidFill>
              </a:defRPr>
            </a:pPr>
            <a:r>
              <a:rPr sz="1425">
                <a:solidFill>
                  <a:srgbClr val="5F6368"/>
                </a:solidFill>
              </a:rPr>
              <a:t>Shows demand and utilization</a:t>
            </a:r>
          </a:p>
        </p:txBody>
      </p:sp>
    </p:spTree>
    <p:extLst>
      <p:ext uri="{BB962C8B-B14F-4D97-AF65-F5344CB8AC3E}">
        <p14:creationId xmlns:p14="http://schemas.microsoft.com/office/powerpoint/2010/main" val="1981989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359264-BCDF-4D8E-84C7-811AC5B1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1D63C-778C-421A-AF52-A25BB63E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ESR is the best owner headline if it is defined clearly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55F56-6B81-428B-920B-DBD5D65E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C8691-FDEA-4417-AF44-7B66F9F8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Expected Stay Revenue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A2DDE-8769-4EC1-859E-3B961107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Gross Stay Charges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8FCC4-8CF8-4F98-B4A8-0E0FED87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7182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D4640-7B44-48BA-8403-DF6E501C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Reductions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D4035-990C-46D9-A8AA-A930BFF0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7182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=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0D3BA-CC08-4370-B30F-91847307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ESR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5F912-7B68-4FDA-B8B9-9D66949A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AE05C-E3AE-42F9-97B2-C62F068C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0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70F15-E51C-4F51-8B62-C09D1F47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Includes room charges and stay-related add-ons such as tours, towels, extra beds, and card surcharge.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9BE56-1A54-4E61-8D7D-F539B88F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00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E863A-6677-4C1B-92AF-1D57BA5F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14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Deducts refunds, compensation, and negative adjustments.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8A131-896A-4AD0-BAEE-E78FB757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91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6B276-B27E-4A13-9FD0-12DD6D3F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054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Excludes deposits and payment settlement events because those are cash/liability movements.</a:t>
            </a:r>
          </a:p>
        </p:txBody>
      </p:sp>
    </p:spTree>
    <p:extLst>
      <p:ext uri="{BB962C8B-B14F-4D97-AF65-F5344CB8AC3E}">
        <p14:creationId xmlns:p14="http://schemas.microsoft.com/office/powerpoint/2010/main" val="1093534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0ED03A-FAA2-46DE-8D4D-A3DB39ED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IMPORTANT DISTINCTION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2C69F-DE1A-4106-9B55-0BF17E18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Collected Revenue is not the same as ESR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8CD58-1E5E-48C4-A15A-BA78F9E7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B9C8C-AC43-47E2-AF2C-6C120097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71B16-4C5E-4361-ABEF-7B5DB40B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E4316-68F1-4C9E-9646-D22614EE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ESR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30E51-A500-460A-AEB5-4BD10C07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Revenue the stay is expected to produce after reductions.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6EB42-FD7C-4D91-BBB0-A9F27512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6368"/>
                </a:solidFill>
              </a:defRPr>
            </a:pPr>
            <a:r>
              <a:rPr sz="1650">
                <a:solidFill>
                  <a:srgbClr val="5F6368"/>
                </a:solidFill>
              </a:rPr>
              <a:t>Can include unpaid bookings.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293F2-CE62-4D43-BF0B-7392ACCC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Collected Revenue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E6D75-8B27-44AA-A2DA-582442F2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194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Cash, card, transfer, and OTA money actually received.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A74F0-0495-48BE-A715-4E03D6E0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6368"/>
                </a:solidFill>
              </a:defRPr>
            </a:pPr>
            <a:r>
              <a:rPr sz="1650">
                <a:solidFill>
                  <a:srgbClr val="5F6368"/>
                </a:solidFill>
              </a:rPr>
              <a:t>Useful for daily close and cash control.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9E572-80AC-489C-A4AA-40DBC39D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578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Example: a room can count in ESR today and become collected revenue later.</a:t>
            </a:r>
          </a:p>
        </p:txBody>
      </p:sp>
    </p:spTree>
    <p:extLst>
      <p:ext uri="{BB962C8B-B14F-4D97-AF65-F5344CB8AC3E}">
        <p14:creationId xmlns:p14="http://schemas.microsoft.com/office/powerpoint/2010/main" val="1970563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7AA0D1-9A23-4C62-A402-46E8DC6D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HOTEL KPI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9027D-21CC-4B21-8C8C-26A8065A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Industry standards explain room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64E79-D56C-40A5-ACD4-72DC7492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948AD-42CC-4D0F-98DD-30137A64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3909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35158-A605-4D14-90CE-DECC3F35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87894-8ED7-4EBE-808F-1FF9A168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OCCUPANCY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C3D43-51EB-4874-90E5-02315625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Rooms sold / rooms available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50E3E-DE15-43B0-888B-C67086B8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2971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Shows demand and utilization. High occupancy without good rate can still underperform.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10BA5-0A97-4FDF-9D04-4B33AF22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81200"/>
            <a:ext cx="33909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B5A12-827F-4580-82DA-46097A66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81200"/>
            <a:ext cx="666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09AFE-24CF-4FAB-B597-F27E264D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ADR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52464-7BED-4B93-B6E2-A9D39512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Room revenue / rooms sold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20F64-F32B-468F-BFC1-1FB59359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2971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Shows average price earned per occupied room. Best read with occupancy.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3C977-A3F5-42FA-9A89-D9ED46A2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3909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2A49C-BD1D-4870-B66A-D8A6B96F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666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4FB1D-3D7C-4701-BCCA-B5999CE2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REVPAR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D6BDE-74C2-47BB-9F2E-E499F67F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Room revenue / available rooms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F042A-58E4-46F8-8301-D4CA3B54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62350"/>
            <a:ext cx="2971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The standard revenue-management KPI because it combines price and occupancy.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BA1295-34D1-4D9C-9522-2202C220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368"/>
                </a:solidFill>
              </a:defRPr>
            </a:pPr>
            <a:r>
              <a:rPr sz="900">
                <a:solidFill>
                  <a:srgbClr val="5F6368"/>
                </a:solidFill>
              </a:rPr>
              <a:t>Industry reference: ADR, Occupancy, and RevPAR are standard lodging KPIs; RevPAR = room revenue / available rooms.</a:t>
            </a:r>
          </a:p>
        </p:txBody>
      </p:sp>
    </p:spTree>
    <p:extLst>
      <p:ext uri="{BB962C8B-B14F-4D97-AF65-F5344CB8AC3E}">
        <p14:creationId xmlns:p14="http://schemas.microsoft.com/office/powerpoint/2010/main" val="1765458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B761AC-5885-45D6-B630-CC5FDA56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STAY ADD-ONS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A011D-03A6-453D-A210-BA885E3A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Add-ons should be visible, but not mixed into room-only KPIs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EA3F1-BC3C-45DF-B44E-9F57641C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33A9B-6F83-4598-B9F1-0CD027C6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Room-only 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0570B-AE0C-4A16-932A-EEB91901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Total stay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5E7E4-C374-4B41-8104-53849F26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93987-F945-4645-A0F1-BF6E8E25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73A0E-835F-4E15-A98D-E16A025B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5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FCBD8-CD48-4675-8FC7-1360C484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194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Room Revenue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C4FB1-BC2B-4F46-B1CB-06AAB9D7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9FA90-4324-4B96-B020-1AF775B5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ADR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4D820-1A5D-467C-AAC3-5FE0DBA5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B5E58-DD50-4F2A-B4E5-5BF5D07D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386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RevPAR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814C3-A612-43CA-910B-1A751D02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28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A527F-1A2C-4654-A854-9B048237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432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ESR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D50F3-4FD7-4F1B-88FB-5B40E21C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0109C-5365-440A-B361-D0507FCB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528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Tours, towels, extra beds, surcharges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88BB6-B229-4684-9C0F-A47E023F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F7635-E51E-4F67-9B7E-2F8B9961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529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Breakdown by type and payment method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2C358-2E34-4A99-8D49-CDF8B999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67690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F6368"/>
                </a:solidFill>
              </a:defRPr>
            </a:pPr>
            <a:r>
              <a:rPr sz="1800">
                <a:solidFill>
                  <a:srgbClr val="5F6368"/>
                </a:solidFill>
              </a:rPr>
              <a:t>This keeps industry KPIs comparable while still showing the real business mix.</a:t>
            </a:r>
          </a:p>
        </p:txBody>
      </p:sp>
    </p:spTree>
    <p:extLst>
      <p:ext uri="{BB962C8B-B14F-4D97-AF65-F5344CB8AC3E}">
        <p14:creationId xmlns:p14="http://schemas.microsoft.com/office/powerpoint/2010/main" val="10196088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87D1B1-A1A5-4F2C-9917-0942FDBF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RECOMMENDED METRIC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7FE74-8157-4F3A-A543-4727EC19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best dashboard combines owner clarity with industry standards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98879-36F7-4035-8664-FD045B86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B4EA8-9E43-4C24-B25A-501DB6E2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62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B90B8-FBF6-464B-AC3E-9FA5ACC3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033B7-C304-4460-BDA4-98B59C0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ESR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386F3-0C84-4D68-95DF-E18467C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Main owner headline. Expected stay revenue after reductions.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03581-A2C8-4775-94A1-53F8CB7E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62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F1562-69E6-496E-85C7-2A4C9AF1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FB58A"/>
                </a:solidFill>
              </a:defRPr>
            </a:pPr>
            <a:r>
              <a:rPr sz="3150" b="1">
                <a:solidFill>
                  <a:srgbClr val="4FB58A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DBC80-07AE-455E-AE17-EAA2046A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57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Collected Revenue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A3737-8578-460B-A026-FB99157B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957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Cash reality. Shows what has actually been paid.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3DDB9-7F6A-4A32-909A-9E351AFC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2362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173CA-6247-42E2-B9B1-CC322B06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F8FDA"/>
                </a:solidFill>
              </a:defRPr>
            </a:pPr>
            <a:r>
              <a:rPr sz="3150" b="1">
                <a:solidFill>
                  <a:srgbClr val="4F8FDA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EDF71-144B-4AD8-A33C-807BBB20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57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Occupancy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71B4A-DFFE-45D4-BD47-7A759EA1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Demand reality. Shows how full the property 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586B0-2E64-458F-BC75-9AE71C83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2362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36B85-CC99-4C88-996C-83C80F20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8B6FD6"/>
                </a:solidFill>
              </a:defRPr>
            </a:pPr>
            <a:r>
              <a:rPr sz="3150" b="1">
                <a:solidFill>
                  <a:srgbClr val="8B6FD6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D34EA-F4C6-4AAA-9AF2-2468AA71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575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ADR + RevPAR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F76DB-4603-4A8C-9973-46E37CF6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957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Industry comparison. Shows rate quality and room performance.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70E3B-94E6-4ABA-A142-2C3DB130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Put the breakdown modal behind ESR so the owner can audit exactly where the number came from.</a:t>
            </a:r>
          </a:p>
        </p:txBody>
      </p:sp>
    </p:spTree>
    <p:extLst>
      <p:ext uri="{BB962C8B-B14F-4D97-AF65-F5344CB8AC3E}">
        <p14:creationId xmlns:p14="http://schemas.microsoft.com/office/powerpoint/2010/main" val="5084617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417BF9-B200-489D-BBDD-7223517F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A5A25-B0C9-483D-988C-75F4CD6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recommendation is to keep ESR, but define it like an owner metric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75A6F-A237-4C9F-BE2E-2A3E8693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E4B7C-5236-40C5-B431-34550138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Use ESR as the main monthly revenue headline.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F1319-48E7-43CD-8124-C4D6D9CC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18362-67B1-400C-866D-51DD15E0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ESR tells him what the month should produce after refunds and reductions.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2A467-1304-4C87-815E-84A89210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2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965C0-F363-496D-9A80-5C9A8CC6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Collected Revenue tells him what money has actually arrived.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7F3BD-620B-463E-837E-E6BE2E09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67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EA273-C297-42E5-A2B9-CA40F11A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81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ADR, Occupancy, and RevPAR connect the dashboard to hotel industry standards.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50827-8183-40CA-9854-5C9BE009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531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368"/>
                </a:solidFill>
              </a:defRPr>
            </a:pPr>
            <a:r>
              <a:rPr sz="1800">
                <a:solidFill>
                  <a:srgbClr val="5F6368"/>
                </a:solidFill>
              </a:rPr>
              <a:t>Plain English version: one number for expected business value, one number for cash, and three numbers for hotel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6166666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DC7909-15DE-410D-8008-6C064CB6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234C8-16A8-4D7C-AB64-9FF968A0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Reference standards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B386C-957D-4595-9E70-CD6CAE54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</a:defRPr>
            </a:pPr>
            <a:r>
              <a:rPr sz="1050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B5021-5EB5-439F-96A0-AB234B4D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RevPAR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059EB-798A-4AB0-BF90-8FD65838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Revenue per available room; commonly calculated as room revenue divided by available rooms, or ADR x occupancy.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2DAF1-FFF1-4619-BD2E-B55880FB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ADR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5B9F2-561F-43AD-957E-128C5803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Average daily rate; room revenue divided by rooms sold.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95912-35CE-444B-9243-6DB7ECA8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TRevPAR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1E498-D4D7-4FA6-AAF2-6BD924CA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719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Total revenue per available room; uses total hotel revenue rather than room-only revenue.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32223-796D-40AB-8B92-46A33D06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RevPOR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4FA36-FC53-4640-A99D-8FE61988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910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Revenue per occupied room; useful for understanding guest spend including services and add-ons.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F9B99-1C47-46CD-8BF8-1E576C0F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Sources: Investopedia hotel KPI explainers and public hospitality metric definitions for RevPAR, ADR, TRevPAR, and RevPOR.</a:t>
            </a:r>
          </a:p>
        </p:txBody>
      </p:sp>
    </p:spTree>
    <p:extLst>
      <p:ext uri="{BB962C8B-B14F-4D97-AF65-F5344CB8AC3E}">
        <p14:creationId xmlns:p14="http://schemas.microsoft.com/office/powerpoint/2010/main" val="449348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2026-07-04T05:45:12.1260000Z</dcterms:created>
  <dcterms:modified xsi:type="dcterms:W3CDTF">2026-07-04T05:45:12.1260000Z</dcterms:modified>
</coreProperties>
</file>